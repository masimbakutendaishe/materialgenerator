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Electrical hazards are everywhere in an industrial site – for example, a weld‑shop worker once received a shock because a frayed welding cable was left coiled near a metal workbench. Emphasise that any live part above 50 V AC must be protected, that damaged insulation is the top cause of shocks, and that clear warning symbols and proper LOTO procedures prevent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starting on a live panel, match PPE to the voltage – for example, use insulated gloves rated at 1000 V or higher for work on an 11 kV breaker. Before wearing them, do a quick visual and continuity check; if a nick or test failure is found, replace the glove immediately. Remember, PPE is the last line of defence – in our plant an electrician spotted a cracked glove before servicing a breaker and avoided a shock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five‑step LOTO process is the backbone of safe isolation, and that a live test with a properly calibrated meter is the final safeguard. For example, before repairing a conveyor motor, the electrician shuts off the breaker, applies his lock, tags it, then confirms zero voltage with a multimeter before beginning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coworker receives an electric shock, the first priority is to cut the power and avoid becoming a second victim; for example, an electrician who was shocked on a live panel was rescued by a colleague who used a dry wooden pole to move the victim after isolating the breaker. After the source is secured, quickly check responsiveness – if they're unconscious or have major burns, call 112 and start CPR while another person prepares an AED.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000">
                <a:solidFill>
                  <a:srgbClr val="1A5276"/>
                </a:solidFill>
              </a:rPr>
              <a:t>Basic Electrical Safety for Industrial Workers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i="1" sz="2000">
                <a:solidFill>
                  <a:srgbClr val="2874A6"/>
                </a:solidFill>
              </a:rPr>
              <a:t>Test Training Institute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536192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A5276"/>
                </a:solidFill>
              </a:rPr>
              <a:t>Unit 1: Understanding Electrical 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74A6"/>
                </a:solidFill>
              </a:defRPr>
            </a:pPr>
            <a:r>
              <a:t>Live parts ≥ 50 V AC / 30 V DC exposed or poorly insulated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Damaged cords, broken plugs &amp; missing earth = leading shock causes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Warning symbols: IEC lightning bolt, burn symbol, and ‘Risk of electric shock’ labels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Lock‑out/Tag‑out (LOTO) required before any maintenance on energized equipment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Maintain a 1 m clearance around overhead power lines in the plant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6126480"/>
            <a:ext cx="8534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A5276"/>
                </a:solidFill>
              </a:rPr>
              <a:t>Unit 2: Personal Protective Equipment (PPE)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74A6"/>
                </a:solidFill>
              </a:defRPr>
            </a:pPr>
            <a:r>
              <a:t>Choose insulated, flame‑resistant gloves rated ≥1000 V for live work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Perform a pre‑use visual check: look for tears, cracks, worn seams, and test for electrical continuity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Use hard hats with a dielectric rating and pair with face shields that meet ANSI Z87.1 for arc flash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PPE protects against hazards, not eliminates them – maintain safe distances and lock‑out/tag‑out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Replace PPE that shows damage or exceeds its service life (e.g., 5 years for rubber gloves)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6126480"/>
            <a:ext cx="8534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A5276"/>
                </a:solidFill>
              </a:rPr>
              <a:t>Unit 3: Safe Isolation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74A6"/>
                </a:solidFill>
              </a:defRPr>
            </a:pPr>
            <a:r>
              <a:t>Follow the 5‑step LOTO sequence: Identify, Notify, Isolate, Lockout, Verify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Verify zero energy with a calibrated tester before starting work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Document each lockout with a tag that includes the worker’s name, date &amp; time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Legal: OHS Act 85/1993 &amp; Regulations require written isolation procedures and impose penalties up to R1 million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6126480"/>
            <a:ext cx="8534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A5276"/>
                </a:solidFill>
              </a:rPr>
              <a:t>Unit 4: Emergency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74A6"/>
                </a:solidFill>
              </a:defRPr>
            </a:pPr>
            <a:r>
              <a:t>Turn off the circuit breaker or isolate the source before any rescue.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Never touch a shocked person with bare hands – use insulated tools or a wooden stick.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Assess: unconscious or severe burn → call 112 immediately; otherwise administer CPR/first aid.</a:t>
            </a:r>
          </a:p>
          <a:p>
            <a:pPr>
              <a:defRPr sz="2000">
                <a:solidFill>
                  <a:srgbClr val="2874A6"/>
                </a:solidFill>
              </a:defRPr>
            </a:pPr>
            <a:r>
              <a:t>If the victim shows cardiac arrest or burns &gt; 2% body surface, escalate to emergency services without delay.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6126480"/>
            <a:ext cx="8534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