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Electrical hazards are often hidden until you see a live conductor, a broken cable or a missing earth. For example, at our metal‑working shop a three‑phase motor starter had a cracked power cable that could have caused a 415 V shock. Always look for the standard warning symbols and ensure lock‑out/tag‑out is applied before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start a job on an 11 kV switchboard, wear gloves rated at least 12 kV, flame‑resistant sleeves, and insulated tools. Before using them, check for cracks, worn seams and verify the glove’s insulation resistance with a tester. Remember, a hard hat protects against impact but not electrical shock, so you still need a face shield and arc‑rated coveralls.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lock‑out‑tag‑out process isn’t just about putting a lock on a switch – you must also document and get sign‑off to ensure accountability. Demonstrate verification by showing a multimeter reading zero volts on a motor drive before maintenance starts. For example, when a maintenance team isolates a conveyor motor, they lock the circuit breaker, tag it with the worker’s name, test for voltage, and complete the LOTO permit before beginning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electrical shock occurs, the first action is to isolate the supply – for example, in our plant we switched off the main breaker before assisting a worker on a faulty motor. After confirming the area is safe, you check the person’s response, call emergency services, and only then begin CPR if the heart has stopped. Finally, document the incident immediately to meet MERSETA reporting requirements.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sz="4000">
                <a:solidFill>
                  <a:srgbClr val="1A5276"/>
                </a:solidFill>
              </a:rPr>
              <a:t>Basic Electrical Safety for Industrial Workers</a:t>
            </a:r>
          </a:p>
        </p:txBody>
      </p:sp>
      <p:sp>
        <p:nvSpPr>
          <p:cNvPr id="3" name="Subtitle 2"/>
          <p:cNvSpPr>
            <a:spLocks noGrp="1"/>
          </p:cNvSpPr>
          <p:nvPr>
            <p:ph type="subTitle" idx="1"/>
          </p:nvPr>
        </p:nvSpPr>
        <p:spPr/>
        <p:txBody>
          <a:bodyPr/>
          <a:lstStyle/>
          <a:p>
            <a:r>
              <a:rPr i="1" sz="2000">
                <a:solidFill>
                  <a:srgbClr val="2874A6"/>
                </a:solidFill>
              </a:rPr>
              <a:t>Test Training Institute</a:t>
            </a:r>
          </a:p>
        </p:txBody>
      </p:sp>
      <p:sp>
        <p:nvSpPr>
          <p:cNvPr id="4" name="Rectangle 3"/>
          <p:cNvSpPr/>
          <p:nvPr/>
        </p:nvSpPr>
        <p:spPr>
          <a:xfrm>
            <a:off x="0" y="0"/>
            <a:ext cx="5943600" cy="1371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0"/>
            <a:ext cx="3200400" cy="137160"/>
          </a:xfrm>
          <a:prstGeom prst="rect">
            <a:avLst/>
          </a:prstGeom>
          <a:solidFill>
            <a:srgbClr val="287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rot="10800000">
            <a:off x="0" y="137160"/>
            <a:ext cx="1280160" cy="320040"/>
          </a:xfrm>
          <a:prstGeom prst="homePlat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9144000" cy="3200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lIns="274320" tIns="0" bIns="0"/>
          <a:lstStyle/>
          <a:p>
            <a:pPr algn="ctr"/>
            <a:r>
              <a:rPr sz="1000">
                <a:solidFill>
                  <a:srgbClr val="FFFFFF"/>
                </a:solidFill>
              </a:rPr>
              <a:t>Test Training Institute</a:t>
            </a:r>
          </a:p>
        </p:txBody>
      </p:sp>
      <p:pic>
        <p:nvPicPr>
          <p:cNvPr id="8" name="Picture 7" descr="image.png"/>
          <p:cNvPicPr>
            <a:picLocks noChangeAspect="1"/>
          </p:cNvPicPr>
          <p:nvPr/>
        </p:nvPicPr>
        <p:blipFill>
          <a:blip r:embed="rId2"/>
          <a:stretch>
            <a:fillRect/>
          </a:stretch>
        </p:blipFill>
        <p:spPr>
          <a:xfrm>
            <a:off x="365760" y="502920"/>
            <a:ext cx="1536192" cy="822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1A5276"/>
                </a:solidFill>
              </a:rPr>
              <a:t>Unit 1: Understanding Electrical Hazards</a:t>
            </a:r>
          </a:p>
        </p:txBody>
      </p:sp>
      <p:sp>
        <p:nvSpPr>
          <p:cNvPr id="3" name="Content Placeholder 2"/>
          <p:cNvSpPr>
            <a:spLocks noGrp="1"/>
          </p:cNvSpPr>
          <p:nvPr>
            <p:ph idx="1"/>
          </p:nvPr>
        </p:nvSpPr>
        <p:spPr/>
        <p:txBody>
          <a:bodyPr/>
          <a:lstStyle/>
          <a:p>
            <a:pPr>
              <a:defRPr sz="2000">
                <a:solidFill>
                  <a:srgbClr val="2874A6"/>
                </a:solidFill>
              </a:defRPr>
            </a:pPr>
            <a:r>
              <a:t>Live parts &gt;50 V exposed or un‑covered</a:t>
            </a:r>
          </a:p>
          <a:p>
            <a:pPr>
              <a:defRPr sz="2000">
                <a:solidFill>
                  <a:srgbClr val="2874A6"/>
                </a:solidFill>
              </a:defRPr>
            </a:pPr>
            <a:r>
              <a:t>Damaged insulation, cracked cords or loose connections</a:t>
            </a:r>
          </a:p>
          <a:p>
            <a:pPr>
              <a:defRPr sz="2000">
                <a:solidFill>
                  <a:srgbClr val="2874A6"/>
                </a:solidFill>
              </a:defRPr>
            </a:pPr>
            <a:r>
              <a:t>Missing or incorrect earthing/grounding</a:t>
            </a:r>
          </a:p>
          <a:p>
            <a:pPr>
              <a:defRPr sz="2000">
                <a:solidFill>
                  <a:srgbClr val="2874A6"/>
                </a:solidFill>
              </a:defRPr>
            </a:pPr>
            <a:r>
              <a:t>Warning labels: IEC 60404 symbols, lock‑out/tag‑out tags, voltage ratings</a:t>
            </a:r>
          </a:p>
        </p:txBody>
      </p:sp>
      <p:sp>
        <p:nvSpPr>
          <p:cNvPr id="4" name="Rectangle 3"/>
          <p:cNvSpPr/>
          <p:nvPr/>
        </p:nvSpPr>
        <p:spPr>
          <a:xfrm>
            <a:off x="0" y="0"/>
            <a:ext cx="5943600" cy="1371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0"/>
            <a:ext cx="3200400" cy="137160"/>
          </a:xfrm>
          <a:prstGeom prst="rect">
            <a:avLst/>
          </a:prstGeom>
          <a:solidFill>
            <a:srgbClr val="287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rot="10800000">
            <a:off x="0" y="137160"/>
            <a:ext cx="1280160" cy="320040"/>
          </a:xfrm>
          <a:prstGeom prst="homePlat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9144000" cy="3200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lIns="274320" tIns="0" bIns="0"/>
          <a:lstStyle/>
          <a:p>
            <a:pPr algn="ctr"/>
            <a:r>
              <a:rPr sz="1000">
                <a:solidFill>
                  <a:srgbClr val="FFFFFF"/>
                </a:solidFill>
              </a:rPr>
              <a:t>Test Training Institute</a:t>
            </a:r>
          </a:p>
        </p:txBody>
      </p:sp>
      <p:pic>
        <p:nvPicPr>
          <p:cNvPr id="8" name="Picture 7" descr="image.png"/>
          <p:cNvPicPr>
            <a:picLocks noChangeAspect="1"/>
          </p:cNvPicPr>
          <p:nvPr/>
        </p:nvPicPr>
        <p:blipFill>
          <a:blip r:embed="rId3"/>
          <a:stretch>
            <a:fillRect/>
          </a:stretch>
        </p:blipFill>
        <p:spPr>
          <a:xfrm>
            <a:off x="7863840" y="5989320"/>
            <a:ext cx="768096" cy="411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1A5276"/>
                </a:solidFill>
              </a:rPr>
              <a:t>Unit 2: Personal Protective Equipment (PPE)</a:t>
            </a:r>
          </a:p>
        </p:txBody>
      </p:sp>
      <p:sp>
        <p:nvSpPr>
          <p:cNvPr id="3" name="Content Placeholder 2"/>
          <p:cNvSpPr>
            <a:spLocks noGrp="1"/>
          </p:cNvSpPr>
          <p:nvPr>
            <p:ph idx="1"/>
          </p:nvPr>
        </p:nvSpPr>
        <p:spPr/>
        <p:txBody>
          <a:bodyPr/>
          <a:lstStyle/>
          <a:p>
            <a:pPr>
              <a:defRPr sz="2000">
                <a:solidFill>
                  <a:srgbClr val="2874A6"/>
                </a:solidFill>
              </a:defRPr>
            </a:pPr>
            <a:r>
              <a:t>Choose dielectric‑rated gloves, flame‑resistant sleeves &amp; insulated tools for live‑circuit work</a:t>
            </a:r>
          </a:p>
          <a:p>
            <a:pPr>
              <a:defRPr sz="2000">
                <a:solidFill>
                  <a:srgbClr val="2874A6"/>
                </a:solidFill>
              </a:defRPr>
            </a:pPr>
            <a:r>
              <a:t>Inspect PPE for cracks, wear, proper labeling &amp; test insulation resistance before each use</a:t>
            </a:r>
          </a:p>
          <a:p>
            <a:pPr>
              <a:defRPr sz="2000">
                <a:solidFill>
                  <a:srgbClr val="2874A6"/>
                </a:solidFill>
              </a:defRPr>
            </a:pPr>
            <a:r>
              <a:t>Know PPE limits: a 1 kV glove won’t protect against &gt;4 kA arc‑flash; hard hats stop impact, not shock</a:t>
            </a:r>
          </a:p>
        </p:txBody>
      </p:sp>
      <p:sp>
        <p:nvSpPr>
          <p:cNvPr id="4" name="Rectangle 3"/>
          <p:cNvSpPr/>
          <p:nvPr/>
        </p:nvSpPr>
        <p:spPr>
          <a:xfrm>
            <a:off x="0" y="0"/>
            <a:ext cx="5943600" cy="1371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0"/>
            <a:ext cx="3200400" cy="137160"/>
          </a:xfrm>
          <a:prstGeom prst="rect">
            <a:avLst/>
          </a:prstGeom>
          <a:solidFill>
            <a:srgbClr val="287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rot="10800000">
            <a:off x="0" y="137160"/>
            <a:ext cx="1280160" cy="320040"/>
          </a:xfrm>
          <a:prstGeom prst="homePlat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9144000" cy="3200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lIns="274320" tIns="0" bIns="0"/>
          <a:lstStyle/>
          <a:p>
            <a:pPr algn="ctr"/>
            <a:r>
              <a:rPr sz="1000">
                <a:solidFill>
                  <a:srgbClr val="FFFFFF"/>
                </a:solidFill>
              </a:rPr>
              <a:t>Test Training Institute</a:t>
            </a:r>
          </a:p>
        </p:txBody>
      </p:sp>
      <p:pic>
        <p:nvPicPr>
          <p:cNvPr id="8" name="Picture 7" descr="image.png"/>
          <p:cNvPicPr>
            <a:picLocks noChangeAspect="1"/>
          </p:cNvPicPr>
          <p:nvPr/>
        </p:nvPicPr>
        <p:blipFill>
          <a:blip r:embed="rId3"/>
          <a:stretch>
            <a:fillRect/>
          </a:stretch>
        </p:blipFill>
        <p:spPr>
          <a:xfrm>
            <a:off x="7863840" y="5989320"/>
            <a:ext cx="768096" cy="411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1A5276"/>
                </a:solidFill>
              </a:rPr>
              <a:t>Unit 3: Safe Isolation Procedures</a:t>
            </a:r>
          </a:p>
        </p:txBody>
      </p:sp>
      <p:sp>
        <p:nvSpPr>
          <p:cNvPr id="3" name="Content Placeholder 2"/>
          <p:cNvSpPr>
            <a:spLocks noGrp="1"/>
          </p:cNvSpPr>
          <p:nvPr>
            <p:ph idx="1"/>
          </p:nvPr>
        </p:nvSpPr>
        <p:spPr/>
        <p:txBody>
          <a:bodyPr/>
          <a:lstStyle/>
          <a:p>
            <a:pPr>
              <a:defRPr sz="2000">
                <a:solidFill>
                  <a:srgbClr val="2874A6"/>
                </a:solidFill>
              </a:defRPr>
            </a:pPr>
            <a:r>
              <a:t>Lock, tag, and verify – use a unique lock and a clearly written tag before any work begins</a:t>
            </a:r>
          </a:p>
          <a:p>
            <a:pPr>
              <a:defRPr sz="2000">
                <a:solidFill>
                  <a:srgbClr val="2874A6"/>
                </a:solidFill>
              </a:defRPr>
            </a:pPr>
            <a:r>
              <a:t>Isolate the energy source, then confirm zero energy with a calibrated multimeter or voltage detector</a:t>
            </a:r>
          </a:p>
          <a:p>
            <a:pPr>
              <a:defRPr sz="2000">
                <a:solidFill>
                  <a:srgbClr val="2874A6"/>
                </a:solidFill>
              </a:defRPr>
            </a:pPr>
            <a:r>
              <a:t>Record each step on the LOTO permit and obtain sign‑off from the authorized supervisor</a:t>
            </a:r>
          </a:p>
          <a:p>
            <a:pPr>
              <a:defRPr sz="2000">
                <a:solidFill>
                  <a:srgbClr val="2874A6"/>
                </a:solidFill>
              </a:defRPr>
            </a:pPr>
            <a:r>
              <a:t>South African OHS Act &amp; MERSETA QCTO require written procedures and regular audits; breaches can attract fines up to R1 million</a:t>
            </a:r>
          </a:p>
        </p:txBody>
      </p:sp>
      <p:sp>
        <p:nvSpPr>
          <p:cNvPr id="4" name="Rectangle 3"/>
          <p:cNvSpPr/>
          <p:nvPr/>
        </p:nvSpPr>
        <p:spPr>
          <a:xfrm>
            <a:off x="0" y="0"/>
            <a:ext cx="5943600" cy="1371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0"/>
            <a:ext cx="3200400" cy="137160"/>
          </a:xfrm>
          <a:prstGeom prst="rect">
            <a:avLst/>
          </a:prstGeom>
          <a:solidFill>
            <a:srgbClr val="287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rot="10800000">
            <a:off x="0" y="137160"/>
            <a:ext cx="1280160" cy="320040"/>
          </a:xfrm>
          <a:prstGeom prst="homePlat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9144000" cy="3200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lIns="274320" tIns="0" bIns="0"/>
          <a:lstStyle/>
          <a:p>
            <a:pPr algn="ctr"/>
            <a:r>
              <a:rPr sz="1000">
                <a:solidFill>
                  <a:srgbClr val="FFFFFF"/>
                </a:solidFill>
              </a:rPr>
              <a:t>Test Training Institute</a:t>
            </a:r>
          </a:p>
        </p:txBody>
      </p:sp>
      <p:pic>
        <p:nvPicPr>
          <p:cNvPr id="8" name="Picture 7" descr="image.png"/>
          <p:cNvPicPr>
            <a:picLocks noChangeAspect="1"/>
          </p:cNvPicPr>
          <p:nvPr/>
        </p:nvPicPr>
        <p:blipFill>
          <a:blip r:embed="rId3"/>
          <a:stretch>
            <a:fillRect/>
          </a:stretch>
        </p:blipFill>
        <p:spPr>
          <a:xfrm>
            <a:off x="7863840" y="5989320"/>
            <a:ext cx="768096" cy="411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1A5276"/>
                </a:solidFill>
              </a:rPr>
              <a:t>Unit 4: Emergency Response</a:t>
            </a:r>
          </a:p>
        </p:txBody>
      </p:sp>
      <p:sp>
        <p:nvSpPr>
          <p:cNvPr id="3" name="Content Placeholder 2"/>
          <p:cNvSpPr>
            <a:spLocks noGrp="1"/>
          </p:cNvSpPr>
          <p:nvPr>
            <p:ph idx="1"/>
          </p:nvPr>
        </p:nvSpPr>
        <p:spPr/>
        <p:txBody>
          <a:bodyPr/>
          <a:lstStyle/>
          <a:p>
            <a:pPr>
              <a:defRPr sz="2000">
                <a:solidFill>
                  <a:srgbClr val="2874A6"/>
                </a:solidFill>
              </a:defRPr>
            </a:pPr>
            <a:r>
              <a:t>Cut power at the source before touching the victim</a:t>
            </a:r>
          </a:p>
          <a:p>
            <a:pPr>
              <a:defRPr sz="2000">
                <a:solidFill>
                  <a:srgbClr val="2874A6"/>
                </a:solidFill>
              </a:defRPr>
            </a:pPr>
            <a:r>
              <a:t>Use insulated gloves and tools; keep a 1‑metre safe zone</a:t>
            </a:r>
          </a:p>
          <a:p>
            <a:pPr>
              <a:defRPr sz="2000">
                <a:solidFill>
                  <a:srgbClr val="2874A6"/>
                </a:solidFill>
              </a:defRPr>
            </a:pPr>
            <a:r>
              <a:t>Check responsiveness, call emergency services, then start CPR if needed</a:t>
            </a:r>
          </a:p>
          <a:p>
            <a:pPr>
              <a:defRPr sz="2000">
                <a:solidFill>
                  <a:srgbClr val="2874A6"/>
                </a:solidFill>
              </a:defRPr>
            </a:pPr>
            <a:r>
              <a:t>Only administer CPR after confirming the circuit is dead</a:t>
            </a:r>
          </a:p>
          <a:p>
            <a:pPr>
              <a:defRPr sz="2000">
                <a:solidFill>
                  <a:srgbClr val="2874A6"/>
                </a:solidFill>
              </a:defRPr>
            </a:pPr>
            <a:r>
              <a:t>Record the incident and report per MERSETA QCTO procedures</a:t>
            </a:r>
          </a:p>
        </p:txBody>
      </p:sp>
      <p:sp>
        <p:nvSpPr>
          <p:cNvPr id="4" name="Rectangle 3"/>
          <p:cNvSpPr/>
          <p:nvPr/>
        </p:nvSpPr>
        <p:spPr>
          <a:xfrm>
            <a:off x="0" y="0"/>
            <a:ext cx="5943600" cy="1371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0"/>
            <a:ext cx="3200400" cy="137160"/>
          </a:xfrm>
          <a:prstGeom prst="rect">
            <a:avLst/>
          </a:prstGeom>
          <a:solidFill>
            <a:srgbClr val="287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rot="10800000">
            <a:off x="0" y="137160"/>
            <a:ext cx="1280160" cy="320040"/>
          </a:xfrm>
          <a:prstGeom prst="homePlat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9144000" cy="3200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lIns="274320" tIns="0" bIns="0"/>
          <a:lstStyle/>
          <a:p>
            <a:pPr algn="ctr"/>
            <a:r>
              <a:rPr sz="1000">
                <a:solidFill>
                  <a:srgbClr val="FFFFFF"/>
                </a:solidFill>
              </a:rPr>
              <a:t>Test Training Institute</a:t>
            </a:r>
          </a:p>
        </p:txBody>
      </p:sp>
      <p:pic>
        <p:nvPicPr>
          <p:cNvPr id="8" name="Picture 7" descr="image.png"/>
          <p:cNvPicPr>
            <a:picLocks noChangeAspect="1"/>
          </p:cNvPicPr>
          <p:nvPr/>
        </p:nvPicPr>
        <p:blipFill>
          <a:blip r:embed="rId3"/>
          <a:stretch>
            <a:fillRect/>
          </a:stretch>
        </p:blipFill>
        <p:spPr>
          <a:xfrm>
            <a:off x="7863840" y="5989320"/>
            <a:ext cx="768096"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